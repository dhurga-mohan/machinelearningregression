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051560"/>
            <a:ext cx="7040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A4D3CE"/>
                </a:solidFill>
                <a:latin typeface="Aptos"/>
              </a:rPr>
              <a:t>MACHINE LEARNING •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71323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Aptos"/>
              </a:rPr>
              <a:t>Boosting
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01568"/>
            <a:ext cx="6492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100" b="0">
                <a:solidFill>
                  <a:srgbClr val="D9E6EF"/>
                </a:solidFill>
                <a:latin typeface="Aptos"/>
              </a:rPr>
              <a:t>AdaBoost  |  XGBoost  |  LightGBM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62179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C6D5E0"/>
                </a:solidFill>
                <a:latin typeface="Aptos"/>
              </a:rPr>
              <a:t>Insurance Charges Prediction
Concepts • Python implementation • Model comparison</a:t>
            </a:r>
          </a:p>
        </p:txBody>
      </p:sp>
      <p:sp>
        <p:nvSpPr>
          <p:cNvPr id="7" name="Oval 6"/>
          <p:cNvSpPr/>
          <p:nvPr/>
        </p:nvSpPr>
        <p:spPr>
          <a:xfrm>
            <a:off x="8869680" y="914400"/>
            <a:ext cx="777240" cy="777240"/>
          </a:xfrm>
          <a:prstGeom prst="ellipse">
            <a:avLst/>
          </a:prstGeom>
          <a:solidFill>
            <a:srgbClr val="308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66960" y="1600200"/>
            <a:ext cx="594360" cy="594360"/>
          </a:xfrm>
          <a:prstGeom prst="ellipse">
            <a:avLst/>
          </a:prstGeom>
          <a:solidFill>
            <a:srgbClr val="38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01000" y="1828800"/>
            <a:ext cx="594360" cy="594360"/>
          </a:xfrm>
          <a:prstGeom prst="ellipse">
            <a:avLst/>
          </a:prstGeom>
          <a:solidFill>
            <a:srgbClr val="E2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15600" y="2743200"/>
            <a:ext cx="594360" cy="594360"/>
          </a:xfrm>
          <a:prstGeom prst="ellipse">
            <a:avLst/>
          </a:prstGeom>
          <a:solidFill>
            <a:srgbClr val="308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61120" y="3154680"/>
            <a:ext cx="640080" cy="640080"/>
          </a:xfrm>
          <a:prstGeom prst="ellipse">
            <a:avLst/>
          </a:prstGeom>
          <a:solidFill>
            <a:srgbClr val="38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0" y="3657600"/>
            <a:ext cx="457200" cy="457200"/>
          </a:xfrm>
          <a:prstGeom prst="ellipse">
            <a:avLst/>
          </a:prstGeom>
          <a:solidFill>
            <a:srgbClr val="E2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58400" y="4206240"/>
            <a:ext cx="685800" cy="685800"/>
          </a:xfrm>
          <a:prstGeom prst="ellipse">
            <a:avLst/>
          </a:prstGeom>
          <a:solidFill>
            <a:srgbClr val="308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0" y="4754880"/>
            <a:ext cx="502920" cy="502920"/>
          </a:xfrm>
          <a:prstGeom prst="ellipse">
            <a:avLst/>
          </a:prstGeom>
          <a:solidFill>
            <a:srgbClr val="38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9326880" y="1554480"/>
            <a:ext cx="640080" cy="182880"/>
          </a:xfrm>
          <a:prstGeom prst="line">
            <a:avLst/>
          </a:prstGeom>
          <a:ln w="20320">
            <a:solidFill>
              <a:srgbClr val="82A3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8412480" y="2011680"/>
            <a:ext cx="457200" cy="182880"/>
          </a:xfrm>
          <a:prstGeom prst="line">
            <a:avLst/>
          </a:prstGeom>
          <a:ln w="20320">
            <a:solidFill>
              <a:srgbClr val="82A3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424160" y="2194560"/>
            <a:ext cx="365760" cy="548640"/>
          </a:xfrm>
          <a:prstGeom prst="line">
            <a:avLst/>
          </a:prstGeom>
          <a:ln w="20320">
            <a:solidFill>
              <a:srgbClr val="82A3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12480" y="2468880"/>
            <a:ext cx="731520" cy="685800"/>
          </a:xfrm>
          <a:prstGeom prst="line">
            <a:avLst/>
          </a:prstGeom>
          <a:ln w="20320">
            <a:solidFill>
              <a:srgbClr val="82A3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09760" y="3749039"/>
            <a:ext cx="731520" cy="457201"/>
          </a:xfrm>
          <a:prstGeom prst="line">
            <a:avLst/>
          </a:prstGeom>
          <a:ln w="20320">
            <a:solidFill>
              <a:srgbClr val="82A3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8046720" y="3657600"/>
            <a:ext cx="914400" cy="91439"/>
          </a:xfrm>
          <a:prstGeom prst="line">
            <a:avLst/>
          </a:prstGeom>
          <a:ln w="20320">
            <a:solidFill>
              <a:srgbClr val="82A3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869680" y="3749039"/>
            <a:ext cx="365760" cy="1005841"/>
          </a:xfrm>
          <a:prstGeom prst="line">
            <a:avLst/>
          </a:prstGeom>
          <a:ln w="20320">
            <a:solidFill>
              <a:srgbClr val="82A3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AdaBoost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ADABOOST  |  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074920" cy="1325880"/>
          </a:xfrm>
          <a:prstGeom prst="rect">
            <a:avLst/>
          </a:prstGeom>
          <a:solidFill>
            <a:srgbClr val="F5F8FB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4663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4663440" cy="6583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AdaBoost means Adaptive Boosting.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5074920" cy="1325880"/>
          </a:xfrm>
          <a:prstGeom prst="rect">
            <a:avLst/>
          </a:prstGeom>
          <a:solidFill>
            <a:srgbClr val="F5F8FB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581912"/>
            <a:ext cx="4663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How it learns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38528"/>
            <a:ext cx="4663440" cy="6583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It combines multiple simple learners into one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46120"/>
            <a:ext cx="5074920" cy="1325880"/>
          </a:xfrm>
          <a:prstGeom prst="rect">
            <a:avLst/>
          </a:prstGeom>
          <a:solidFill>
            <a:srgbClr val="F5F8FB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410712"/>
            <a:ext cx="4663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Why it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67328"/>
            <a:ext cx="4663440" cy="6583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Later learners focus more on examples the current model handles poorly.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246120"/>
            <a:ext cx="5074920" cy="1325880"/>
          </a:xfrm>
          <a:prstGeom prst="rect">
            <a:avLst/>
          </a:prstGeom>
          <a:solidFill>
            <a:srgbClr val="E0F3F2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410712"/>
            <a:ext cx="4663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Our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767328"/>
            <a:ext cx="4663440" cy="6583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Predict medical insurance charges from the dataset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How AdaBoost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ADABOOST  |  02 / LEARNING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1.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25880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Train an initial learner on the training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84248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2.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84248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Check which training examples are predicted poorly.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42615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3. Adjust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42615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Increase emphasis on harder examples, according to the regression method.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00984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4. Add learner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00984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Train another learner with the adjusted emphasis.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59352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5. Combine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59352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Combine learners to produce the final charge prediction.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Train learner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2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Check 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Adjust emphasis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6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Add learner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10928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Combine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AdaBoost: Parameters to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ADABOOST  |  03 / MODEL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n_estimators = 100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Maximum number of boosting learners.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learning_rate = 0.1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Controls each learner's contribution.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loss = linear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Uses linear loss to update sample emphasis for regression.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random_state = 0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Helps make results reproducible.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base learner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AdaBoostRegressor uses a decision-tree regressor by default.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Python: Predict Insurance Charges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ADABOOST  |  04 / BASELINE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08760"/>
            <a:ext cx="4297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1. Prepare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9656"/>
            <a:ext cx="42519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0">
                <a:solidFill>
                  <a:srgbClr val="505A66"/>
                </a:solidFill>
                <a:latin typeface="Aptos"/>
              </a:defRPr>
            </a:pPr>
            <a:r>
              <a:t>Load insurance_pre.csv and convert categorical columns to numeric.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68880"/>
            <a:ext cx="4297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2. Split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9776"/>
            <a:ext cx="42519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0">
                <a:solidFill>
                  <a:srgbClr val="505A66"/>
                </a:solidFill>
                <a:latin typeface="Aptos"/>
              </a:defRPr>
            </a:pPr>
            <a:r>
              <a:t>Use 70% for training and 30% for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29000"/>
            <a:ext cx="4297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3. Train AdaBoost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9896"/>
            <a:ext cx="42519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0">
                <a:solidFill>
                  <a:srgbClr val="505A66"/>
                </a:solidFill>
                <a:latin typeface="Aptos"/>
              </a:defRPr>
            </a:pPr>
            <a:r>
              <a:t>Fit 100 learners with learning_rate = 0.1 and linear loss.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389120"/>
            <a:ext cx="4297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4. 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0016"/>
            <a:ext cx="42519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0">
                <a:solidFill>
                  <a:srgbClr val="505A66"/>
                </a:solidFill>
                <a:latin typeface="Aptos"/>
              </a:defRPr>
            </a:pPr>
            <a:r>
              <a:t>Predict test-set charges and calculate R².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1371600"/>
            <a:ext cx="63550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300">
                <a:solidFill>
                  <a:srgbClr val="182D4B"/>
                </a:solidFill>
                <a:latin typeface="Consolas"/>
              </a:defRPr>
            </a:pPr>
            <a:r>
              <a:t>model = AdaBoostRegressor(</a:t>
            </a:r>
            <a:br/>
            <a:r>
              <a:t>    n_estimators=100,</a:t>
            </a:r>
            <a:br/>
            <a:r>
              <a:t>    learning_rate=0.1,</a:t>
            </a:r>
            <a:br/>
            <a:r>
              <a:t>    loss="linear",</a:t>
            </a:r>
            <a:br/>
            <a:r>
              <a:t>    random_state=0</a:t>
            </a:r>
            <a:br/>
            <a:r>
              <a:t>)</a:t>
            </a:r>
            <a:br/>
            <a:br/>
            <a:r>
              <a:t>model.fit(X_train, y_train)</a:t>
            </a:r>
            <a:br/>
            <a:r>
              <a:t>predictions = model.predict(X_test)</a:t>
            </a:r>
            <a:br/>
            <a:r>
              <a:t>score = r2_score(y_test, predictions)</a:t>
            </a:r>
            <a:br/>
            <a:r>
              <a:t>print("AdaBoost R2 Score:", score)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6016752"/>
            <a:ext cx="60350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Full notebook includes imports, data preparation and train-test split.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AdaBoost: Results and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ADABOOST  |  05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3154680" cy="1965960"/>
          </a:xfrm>
          <a:prstGeom prst="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1">
                <a:solidFill>
                  <a:srgbClr val="008080"/>
                </a:solidFill>
                <a:latin typeface="Aptos"/>
              </a:defRPr>
            </a:pPr>
            <a:r>
              <a:t>TEST R²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84831"/>
            <a:ext cx="265176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200" b="1">
                <a:solidFill>
                  <a:srgbClr val="182D4B"/>
                </a:solidFill>
                <a:latin typeface="Aptos Display"/>
              </a:defRPr>
            </a:pPr>
            <a:r>
              <a:t>0.8608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70632"/>
            <a:ext cx="265176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505A66"/>
                </a:solidFill>
                <a:latin typeface="Aptos"/>
              </a:defRPr>
            </a:pPr>
            <a:r>
              <a:t>Same test split as other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389888"/>
            <a:ext cx="6766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700784"/>
            <a:ext cx="6720840" cy="5120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The model explains about 86.08% of the variation in test-set charges, based on R².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41448"/>
            <a:ext cx="6766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752344"/>
            <a:ext cx="6720840" cy="5120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Its score is higher than Multiple Linear Regression, but lower than SVR, Decision Tree, Random Forest and XGBoost.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493008"/>
            <a:ext cx="6766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3803904"/>
            <a:ext cx="6720840" cy="5120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AdaBoost is a useful boosting baseline, though it is not the best-performing model in this comparison.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074920"/>
            <a:ext cx="10652760" cy="6858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230368"/>
            <a:ext cx="102412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1">
                <a:solidFill>
                  <a:srgbClr val="182D4B"/>
                </a:solidFill>
                <a:latin typeface="Aptos"/>
              </a:defRPr>
            </a:pPr>
            <a:r>
              <a:t>AdaBoost is a useful boosting baseline, though it is not the best-performing model in this comparison.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XGBoost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XGBOOST  |  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074920" cy="1325880"/>
          </a:xfrm>
          <a:prstGeom prst="rect">
            <a:avLst/>
          </a:prstGeom>
          <a:solidFill>
            <a:srgbClr val="F5F8FB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4663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4663440" cy="6583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XGBoost stands for Extreme Gradient Boosting.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5074920" cy="1325880"/>
          </a:xfrm>
          <a:prstGeom prst="rect">
            <a:avLst/>
          </a:prstGeom>
          <a:solidFill>
            <a:srgbClr val="F5F8FB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581912"/>
            <a:ext cx="4663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How it learns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38528"/>
            <a:ext cx="4663440" cy="6583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It adds decision trees one after another.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46120"/>
            <a:ext cx="5074920" cy="1325880"/>
          </a:xfrm>
          <a:prstGeom prst="rect">
            <a:avLst/>
          </a:prstGeom>
          <a:solidFill>
            <a:srgbClr val="F5F8FB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410712"/>
            <a:ext cx="4663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Why it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67328"/>
            <a:ext cx="4663440" cy="6583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Each new tree aims to improve the current predictions.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246120"/>
            <a:ext cx="5074920" cy="1325880"/>
          </a:xfrm>
          <a:prstGeom prst="rect">
            <a:avLst/>
          </a:prstGeom>
          <a:solidFill>
            <a:srgbClr val="E0F3F2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410712"/>
            <a:ext cx="4663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Our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767328"/>
            <a:ext cx="4663440" cy="6583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Predict medical insurance charges from the dataset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How XGBoost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XGBOOST  |  02 / LEARNING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1.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25880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The model makes initial predictions.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84248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2.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84248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It compares predictions with actual charges.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42615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3. Improve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42615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A new tree learns how to reduce the remaining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00984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4. Combine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00984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The new tree contributes to the model's predictions.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59352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5. Repeat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59352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The process continues for the selected number of trees.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Initial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2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Check 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Build a new tree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6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Update predictions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10928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Repeat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XGBoost: Parameters to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XGBOOST  |  03 / MODEL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n_estimators = 100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Number of boosting trees.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learning_rate = 0.1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Controls the contribution of each tree.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max_depth = 3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Limits the depth of each tree.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objective = reg:squarederror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Uses squared error for regression.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random_state = 0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Helps make results reproducible.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Python: Predict Insurance Charges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XGBOOST  |  04 / BASELINE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08760"/>
            <a:ext cx="4297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1. Prepare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9656"/>
            <a:ext cx="42519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0">
                <a:solidFill>
                  <a:srgbClr val="505A66"/>
                </a:solidFill>
                <a:latin typeface="Aptos"/>
              </a:defRPr>
            </a:pPr>
            <a:r>
              <a:t>Load insurance_pre.csv and convert categorical columns to numeric.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68880"/>
            <a:ext cx="4297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2. Split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9776"/>
            <a:ext cx="42519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0">
                <a:solidFill>
                  <a:srgbClr val="505A66"/>
                </a:solidFill>
                <a:latin typeface="Aptos"/>
              </a:defRPr>
            </a:pPr>
            <a:r>
              <a:t>Use 70% for training and 30% for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29000"/>
            <a:ext cx="4297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3. Train XGBoost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9896"/>
            <a:ext cx="42519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0">
                <a:solidFill>
                  <a:srgbClr val="505A66"/>
                </a:solidFill>
                <a:latin typeface="Aptos"/>
              </a:defRPr>
            </a:pPr>
            <a:r>
              <a:t>Fit 100 trees with learning_rate = 0.1 and max_depth =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389120"/>
            <a:ext cx="4297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4. 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0016"/>
            <a:ext cx="42519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0">
                <a:solidFill>
                  <a:srgbClr val="505A66"/>
                </a:solidFill>
                <a:latin typeface="Aptos"/>
              </a:defRPr>
            </a:pPr>
            <a:r>
              <a:t>Predict test-set charges and calculate R².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1371600"/>
            <a:ext cx="63550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300">
                <a:solidFill>
                  <a:srgbClr val="182D4B"/>
                </a:solidFill>
                <a:latin typeface="Consolas"/>
              </a:defRPr>
            </a:pPr>
            <a:r>
              <a:t>model = XGBRegressor(</a:t>
            </a:r>
            <a:br/>
            <a:r>
              <a:t>    n_estimators=100,</a:t>
            </a:r>
            <a:br/>
            <a:r>
              <a:t>    learning_rate=0.1,</a:t>
            </a:r>
            <a:br/>
            <a:r>
              <a:t>    max_depth=3,</a:t>
            </a:r>
            <a:br/>
            <a:r>
              <a:t>    objective="reg:squarederror",</a:t>
            </a:r>
            <a:br/>
            <a:r>
              <a:t>    random_state=0</a:t>
            </a:r>
            <a:br/>
            <a:r>
              <a:t>)</a:t>
            </a:r>
            <a:br/>
            <a:br/>
            <a:r>
              <a:t>model.fit(X_train, y_train)</a:t>
            </a:r>
            <a:br/>
            <a:r>
              <a:t>predictions = model.predict(X_test)</a:t>
            </a:r>
            <a:br/>
            <a:r>
              <a:t>score = r2_score(y_test, predictions)</a:t>
            </a:r>
            <a:br/>
            <a:r>
              <a:t>print("XGBoost R2 Score:", score)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6016752"/>
            <a:ext cx="60350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Full notebook includes imports, data preparation and train-test split.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XGBoost: Results and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XGBOOST  |  05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3154680" cy="1965960"/>
          </a:xfrm>
          <a:prstGeom prst="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1">
                <a:solidFill>
                  <a:srgbClr val="008080"/>
                </a:solidFill>
                <a:latin typeface="Aptos"/>
              </a:defRPr>
            </a:pPr>
            <a:r>
              <a:t>TEST R²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84831"/>
            <a:ext cx="265176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200" b="1">
                <a:solidFill>
                  <a:srgbClr val="182D4B"/>
                </a:solidFill>
                <a:latin typeface="Aptos Display"/>
              </a:defRPr>
            </a:pPr>
            <a:r>
              <a:t>0.8874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70632"/>
            <a:ext cx="265176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505A66"/>
                </a:solidFill>
                <a:latin typeface="Aptos"/>
              </a:defRPr>
            </a:pPr>
            <a:r>
              <a:t>Same test split as other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389888"/>
            <a:ext cx="6766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700784"/>
            <a:ext cx="6720840" cy="5120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The model explains about 88.74% of the variation in test-set charges, based on R².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41448"/>
            <a:ext cx="6766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752344"/>
            <a:ext cx="6720840" cy="5120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This is the highest R² among the seven models tested so far.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493008"/>
            <a:ext cx="6766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3803904"/>
            <a:ext cx="6720840" cy="5120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With this baseline setup, XGBoost is the strongest performer in this comparison.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074920"/>
            <a:ext cx="10652760" cy="6858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230368"/>
            <a:ext cx="102412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1">
                <a:solidFill>
                  <a:srgbClr val="182D4B"/>
                </a:solidFill>
                <a:latin typeface="Aptos"/>
              </a:defRPr>
            </a:pPr>
            <a:r>
              <a:t>With this baseline setup, XGBoost is the strongest performer in this comparison.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LightGBM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LIGHTGBM  |  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074920" cy="1325880"/>
          </a:xfrm>
          <a:prstGeom prst="rect">
            <a:avLst/>
          </a:prstGeom>
          <a:solidFill>
            <a:srgbClr val="F5F8FB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4663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4663440" cy="6583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LightGBM is a gradient boosting framework based on decision trees.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5074920" cy="1325880"/>
          </a:xfrm>
          <a:prstGeom prst="rect">
            <a:avLst/>
          </a:prstGeom>
          <a:solidFill>
            <a:srgbClr val="F5F8FB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581912"/>
            <a:ext cx="4663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How it learns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38528"/>
            <a:ext cx="4663440" cy="6583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It builds trees sequentially, with later trees improving predictions.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46120"/>
            <a:ext cx="5074920" cy="1325880"/>
          </a:xfrm>
          <a:prstGeom prst="rect">
            <a:avLst/>
          </a:prstGeom>
          <a:solidFill>
            <a:srgbClr val="F5F8FB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410712"/>
            <a:ext cx="4663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Why it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67328"/>
            <a:ext cx="4663440" cy="6583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It is designed for efficient training, especially on larger datasets.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246120"/>
            <a:ext cx="5074920" cy="1325880"/>
          </a:xfrm>
          <a:prstGeom prst="rect">
            <a:avLst/>
          </a:prstGeom>
          <a:solidFill>
            <a:srgbClr val="E0F3F2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410712"/>
            <a:ext cx="4663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Our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767328"/>
            <a:ext cx="4663440" cy="6583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Predict medical insurance charges from the dataset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How LightGBM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LIGHTGBM  |  02 / LEARNING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1.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25880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The model makes initial predictions.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84248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2.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84248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It compares predictions with actual charges.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42615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3. Improve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42615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A new tree learns to reduce the remaining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00984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4. Combine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00984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The new tree contributes to the model's predictions.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59352"/>
            <a:ext cx="1828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008080"/>
                </a:solidFill>
                <a:latin typeface="Aptos"/>
              </a:defRPr>
            </a:pPr>
            <a:r>
              <a:t>5. Repeat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59352"/>
            <a:ext cx="8503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505A66"/>
                </a:solidFill>
                <a:latin typeface="Aptos"/>
              </a:defRPr>
            </a:pPr>
            <a:r>
              <a:t>The process continues for the selected number of trees.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Initial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2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Check 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Build a new tree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6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Update predictions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10928" y="5074920"/>
            <a:ext cx="2011680" cy="731520"/>
          </a:xfrm>
          <a:prstGeom prst="round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82D4B"/>
                </a:solidFill>
              </a:defRPr>
            </a:pPr>
            <a:r>
              <a:t>Repeat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LightGBM: Parameters to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LIGHTGBM  |  03 / MODEL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n_estimators = 100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Number of boosting trees.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learning_rate = 0.1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Controls the contribution of each tree.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max_depth = -1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No specific maximum depth is set.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random_state = 0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Helps make results reproducible.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D4B"/>
                          </a:solidFill>
                        </a:defRPr>
                      </a:pPr>
                      <a:r>
                        <a:t>verbosity = -1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2D4B"/>
                          </a:solidFill>
                        </a:defRPr>
                      </a:pPr>
                      <a:r>
                        <a:t>Suppresses informational messages.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Python: Predict Insurance Charges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LIGHTGBM  |  04 / BASELINE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08760"/>
            <a:ext cx="4297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1. Prepare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9656"/>
            <a:ext cx="42519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0">
                <a:solidFill>
                  <a:srgbClr val="505A66"/>
                </a:solidFill>
                <a:latin typeface="Aptos"/>
              </a:defRPr>
            </a:pPr>
            <a:r>
              <a:t>Load insurance_pre.csv and convert categorical columns to numeric.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68880"/>
            <a:ext cx="4297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2. Split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9776"/>
            <a:ext cx="42519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0">
                <a:solidFill>
                  <a:srgbClr val="505A66"/>
                </a:solidFill>
                <a:latin typeface="Aptos"/>
              </a:defRPr>
            </a:pPr>
            <a:r>
              <a:t>Use 70% for training and 30% for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29000"/>
            <a:ext cx="4297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3. Train LightGBM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9896"/>
            <a:ext cx="42519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0">
                <a:solidFill>
                  <a:srgbClr val="505A66"/>
                </a:solidFill>
                <a:latin typeface="Aptos"/>
              </a:defRPr>
            </a:pPr>
            <a:r>
              <a:t>Fit 100 trees with learning_rate = 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389120"/>
            <a:ext cx="4297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4. 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0016"/>
            <a:ext cx="42519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0">
                <a:solidFill>
                  <a:srgbClr val="505A66"/>
                </a:solidFill>
                <a:latin typeface="Aptos"/>
              </a:defRPr>
            </a:pPr>
            <a:r>
              <a:t>Predict test-set charges and calculate R².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1371600"/>
            <a:ext cx="63550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300">
                <a:solidFill>
                  <a:srgbClr val="182D4B"/>
                </a:solidFill>
                <a:latin typeface="Consolas"/>
              </a:defRPr>
            </a:pPr>
            <a:r>
              <a:t>model = LGBMRegressor(</a:t>
            </a:r>
            <a:br/>
            <a:r>
              <a:t>    n_estimators=100,</a:t>
            </a:r>
            <a:br/>
            <a:r>
              <a:t>    learning_rate=0.1,</a:t>
            </a:r>
            <a:br/>
            <a:r>
              <a:t>    max_depth=-1,</a:t>
            </a:r>
            <a:br/>
            <a:r>
              <a:t>    random_state=0,</a:t>
            </a:r>
            <a:br/>
            <a:r>
              <a:t>    verbosity=-1</a:t>
            </a:r>
            <a:br/>
            <a:r>
              <a:t>)</a:t>
            </a:r>
            <a:br/>
            <a:br/>
            <a:r>
              <a:t>model.fit(X_train, y_train)</a:t>
            </a:r>
            <a:br/>
            <a:r>
              <a:t>predictions = model.predict(X_test)</a:t>
            </a:r>
            <a:br/>
            <a:r>
              <a:t>score = r2_score(y_test, predictions)</a:t>
            </a:r>
            <a:br/>
            <a:r>
              <a:t>print("LightGBM R2 Score:", score)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6016752"/>
            <a:ext cx="60350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Full notebook includes imports, data preparation and train-test split.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700" b="1">
                <a:solidFill>
                  <a:srgbClr val="182D4B"/>
                </a:solidFill>
                <a:latin typeface="Aptos Display"/>
              </a:defRPr>
            </a:pPr>
            <a:r>
              <a:t>LightGBM: Results and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6E7C8A"/>
                </a:solidFill>
                <a:latin typeface="Aptos"/>
              </a:defRPr>
            </a:pPr>
            <a:r>
              <a:t>LIGHTGBM  |  05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4572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6E7C8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3154680" cy="1965960"/>
          </a:xfrm>
          <a:prstGeom prst="rect">
            <a:avLst/>
          </a:prstGeom>
          <a:solidFill>
            <a:srgbClr val="E0F3F2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6517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1">
                <a:solidFill>
                  <a:srgbClr val="008080"/>
                </a:solidFill>
                <a:latin typeface="Aptos"/>
              </a:defRPr>
            </a:pPr>
            <a:r>
              <a:t>TEST R²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84831"/>
            <a:ext cx="265176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200" b="1">
                <a:solidFill>
                  <a:srgbClr val="182D4B"/>
                </a:solidFill>
                <a:latin typeface="Aptos Display"/>
              </a:defRPr>
            </a:pPr>
            <a:r>
              <a:t>0.8660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70632"/>
            <a:ext cx="265176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0">
                <a:solidFill>
                  <a:srgbClr val="505A66"/>
                </a:solidFill>
                <a:latin typeface="Aptos"/>
              </a:defRPr>
            </a:pPr>
            <a:r>
              <a:t>Same test split as other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389888"/>
            <a:ext cx="6766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700784"/>
            <a:ext cx="6720840" cy="5120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The model explains about 86.60% of the variation in test-set charges, based on R².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41448"/>
            <a:ext cx="6766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752344"/>
            <a:ext cx="6720840" cy="5120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Its score is higher than AdaBoost, but lower than SVR, Decision Tree, Random Forest and XGBoost.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493008"/>
            <a:ext cx="6766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182D4B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3803904"/>
            <a:ext cx="6720840" cy="5120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200" b="0">
                <a:solidFill>
                  <a:srgbClr val="505A66"/>
                </a:solidFill>
                <a:latin typeface="Aptos"/>
              </a:defRPr>
            </a:pPr>
            <a:r>
              <a:t>LightGBM is designed for efficient training, but the best score depends on data and settings.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074920"/>
            <a:ext cx="10652760" cy="6858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230368"/>
            <a:ext cx="102412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1">
                <a:solidFill>
                  <a:srgbClr val="182D4B"/>
                </a:solidFill>
                <a:latin typeface="Aptos"/>
              </a:defRPr>
            </a:pPr>
            <a:r>
              <a:t>LightGBM is designed for efficient training, but the best score depends on data and settings.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  <a:latin typeface="Aptos Display"/>
              </a:defRPr>
            </a:pPr>
            <a:r>
              <a:t>Final Comparison of Regression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6"/>
                </a:solidFill>
              </a:defRPr>
            </a:pPr>
            <a:r>
              <a:t>Insurance charges prediction | same 70/30 split and random_state=0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508760"/>
          <a:ext cx="98755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2D4B"/>
                          </a:solidFill>
                        </a:defRPr>
                      </a:pPr>
                      <a:r>
                        <a:t>Multiple 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2D4B"/>
                          </a:solidFill>
                        </a:defRPr>
                      </a:pPr>
                      <a:r>
                        <a:t>0.7895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2D4B"/>
                          </a:solidFill>
                        </a:defRPr>
                      </a:pPr>
                      <a:r>
                        <a:t>SVR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2D4B"/>
                          </a:solidFill>
                        </a:defRPr>
                      </a:pPr>
                      <a:r>
                        <a:t>0.8734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2D4B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2D4B"/>
                          </a:solidFill>
                        </a:defRPr>
                      </a:pPr>
                      <a:r>
                        <a:t>0.8637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2D4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2D4B"/>
                          </a:solidFill>
                        </a:defRPr>
                      </a:pPr>
                      <a:r>
                        <a:t>0.8854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2D4B"/>
                          </a:solidFill>
                        </a:defRPr>
                      </a:pPr>
                      <a:r>
                        <a:t>AdaBoost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2D4B"/>
                          </a:solidFill>
                        </a:defRPr>
                      </a:pPr>
                      <a:r>
                        <a:t>0.8608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82D4B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82D4B"/>
                          </a:solidFill>
                        </a:defRPr>
                      </a:pPr>
                      <a:r>
                        <a:t>0.8874</a:t>
                      </a:r>
                    </a:p>
                  </a:txBody>
                  <a:tcPr>
                    <a:solidFill>
                      <a:srgbClr val="E0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2D4B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2D4B"/>
                          </a:solidFill>
                        </a:defRPr>
                      </a:pPr>
                      <a:r>
                        <a:t>0.8660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589788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8080"/>
                </a:solidFill>
              </a:defRPr>
            </a:pPr>
            <a:r>
              <a:t>Highest R² in this comparison: XGBoost (0.8874). A higher R² generally indicates a better fit on this test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1489</Words>
  <Application>Microsoft Office PowerPoint</Application>
  <PresentationFormat>Widescreen</PresentationFormat>
  <Paragraphs>234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Boosting Algorithms for Insurance Charges Prediction</dc:title>
  <dc:subject>AdaBoost, XGBoost and LightGBM regression study</dc:subject>
  <dc:creator>OpenAI</dc:creator>
  <cp:keywords/>
  <dc:description>generated using python-pptx</dc:description>
  <cp:lastModifiedBy>VC</cp:lastModifiedBy>
  <cp:revision>2</cp:revision>
  <dcterms:created xsi:type="dcterms:W3CDTF">2013-01-27T09:14:16Z</dcterms:created>
  <dcterms:modified xsi:type="dcterms:W3CDTF">2026-10-22T09:34:26Z</dcterms:modified>
  <cp:category/>
</cp:coreProperties>
</file>